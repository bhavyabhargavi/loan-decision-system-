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70" r:id="rId10"/>
    <p:sldId id="264" r:id="rId11"/>
    <p:sldId id="265" r:id="rId12"/>
    <p:sldId id="266" r:id="rId13"/>
    <p:sldId id="269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3239E9-BA53-EBF8-E04B-FE3039130A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E6DF680-0E10-1967-73B3-979D0E9B5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D9DDFA6-E9C0-01B8-628B-D7ACAB581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D06EBA3-BAED-DA7C-FD37-1AE9C2163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221FC1-6271-76DC-7C29-FF836A156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545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032154-B258-235E-BC58-D2B0EDF6F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BD3A38-C4C3-601D-0B86-7ED8EA9D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728F22F-F6B4-5DFE-5C05-509585B2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0E5EC34-F903-BBF5-6D2B-BE8B9C0AC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29D6ED7-A0E2-2908-4B23-8A4DD2E61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8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124D8C-358D-E754-AC83-786240EE8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9CD92C3-426A-BEB0-0674-E2EDF8F7E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FDA5C98-455D-6B5E-63E0-1C5B8F624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C1B23C8-D1CE-EB85-4C5F-A2F0DBFB1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D57FAE9-D11B-609B-450F-CDB2A4E06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803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F582E4-DC4A-2112-4BC6-2D3663207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CA36B7-CB2A-067E-EDA0-A5EF0B5C73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91B604E-939A-EB93-EE88-7B1BB9DDA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28AC205-2906-9378-502F-4788C9537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4735382-4CE0-FB43-91ED-4104B84C4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4CB4C80-3310-91B8-E061-E099EC98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327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C75DEC-D5B9-2294-1ABE-524E4CEE4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BBABB8F-8871-0760-4BF1-489355E3C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564EEDC-B06D-B1BD-EFF5-AAA7B9FC4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DA2AF96-C002-4352-C53B-9B6FE311FF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268E54A-D86E-8C32-887A-29F30ED956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D73D6036-87AC-D08D-5124-881A47E4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8C1A2B3-CBBB-E260-332B-AF86269BC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D395B74-0ADC-D83D-3422-7241B9216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070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9750B9-55A7-A7B3-2FF2-4AEA32609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CCFEB30-961F-6C4E-3E8B-2C825788E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AA3D1C8-E88B-213E-B5EA-2D0A618E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F798909-3C79-D034-2FD1-8F750FE5C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803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6357069-DE8F-3682-74AC-D9FE3586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398F508-D47C-D827-78F3-D9F34B8BA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AA4CE36-E262-B20E-0EEF-57489BAFF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504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EF8767-857E-F457-687F-0FB99613E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7D5E73-35C8-17BE-1CA9-60E0DE9F9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2BCB842-A6EB-4352-3D8C-82B25DDAE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7CC5EFC-5BC2-842A-1004-1B8CAE8DF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E6E1C7C-6DC3-484F-6882-3C6519DCF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D3A2608-8062-C7B3-5E9E-39D31954B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146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63EAF3-2710-F781-2AC8-2D56E9CEA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65979E9-8758-748B-859E-1BFF7EAF23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7701027-B90F-08C1-371C-F192DFAEF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AE9F0E0-8AB2-FF19-086E-CA95DB671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453613B-420F-63DD-2236-E3AB484A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AF82530-B1C3-7AD2-B749-B005BA097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79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3A9BDF-097B-FE82-E5C3-0533E01D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41E2029-DFA9-D325-40F6-AE45AEB1A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145185E-4F7F-A9D9-77AD-E5CC819FC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FB5FF5E-1990-F02D-79F5-888B266C6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D4192E0-D41A-BC21-29C6-82FC753C1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834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1C9ED10-27DF-EEDA-13CA-07F808DE2A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02D2A17-43BC-6998-E1ED-1C96C219F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BEEC0BE-ED7E-34D0-A7DF-035D2E3B1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415C-EF0B-4E4F-A4D6-80D2E017E36A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E1DC63C-9413-7335-E3C4-769F80444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BE01808-599B-8782-ED94-A8EE1516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288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DED8B06-7338-8E46-D089-41D0681DE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8040F7-F30F-2014-0040-FBD8EC8B1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195AD0A-F186-16AB-55B1-B9B2721C3C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7415C-EF0B-4E4F-A4D6-80D2E017E36A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EA2BD7-AFCC-753B-7219-FD0854D95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5E5771F-BBE3-3068-5DDD-B61E0CB1A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FE083-2546-4B1A-80E6-F8762E30A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96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85B8D9-FCAC-0035-B158-A90A0FDFC2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/>
              </a:rPr>
              <a:t>Project </a:t>
            </a:r>
            <a:r>
              <a:rPr lang="en-US" sz="2400" b="1" dirty="0">
                <a:solidFill>
                  <a:srgbClr val="002060"/>
                </a:solidFill>
                <a:latin typeface="Times New Roman"/>
              </a:rPr>
              <a:t>Title: </a:t>
            </a:r>
            <a:r>
              <a:rPr lang="en-US" sz="2400" b="1" dirty="0" smtClean="0">
                <a:latin typeface="Times New Roman"/>
              </a:rPr>
              <a:t>AI- </a:t>
            </a:r>
            <a:r>
              <a:rPr lang="en-US" sz="2400" b="1" dirty="0">
                <a:latin typeface="Times New Roman"/>
              </a:rPr>
              <a:t>L</a:t>
            </a:r>
            <a:r>
              <a:rPr lang="en-US" sz="2400" b="1" dirty="0" smtClean="0">
                <a:latin typeface="Times New Roman"/>
              </a:rPr>
              <a:t>end Sense: Predictive and Explainable loan Decision System. </a:t>
            </a:r>
            <a:r>
              <a:rPr lang="en-US" sz="2400" b="1" dirty="0" smtClean="0">
                <a:latin typeface="Times New Roman"/>
                <a:cs typeface="Times New Roman"/>
              </a:rPr>
              <a:t/>
            </a:r>
            <a:br>
              <a:rPr lang="en-US" sz="2400" b="1" dirty="0" smtClean="0">
                <a:latin typeface="Times New Roman"/>
                <a:cs typeface="Times New Roman"/>
              </a:rPr>
            </a:b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9DD432E-A96E-DDBD-D0AA-D0A1A9664B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8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BFF5BA7-8123-5BCC-F3EF-2EB12F50A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652" y="201401"/>
            <a:ext cx="1797627" cy="1530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78F351A6-06E2-8E4E-02C5-1F9B81FD0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039" y="134470"/>
            <a:ext cx="5931922" cy="16094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0A89CA3-CBC1-6EDF-3882-EB0DA444A4B3}"/>
              </a:ext>
            </a:extLst>
          </p:cNvPr>
          <p:cNvSpPr txBox="1"/>
          <p:nvPr/>
        </p:nvSpPr>
        <p:spPr>
          <a:xfrm>
            <a:off x="738978" y="3726597"/>
            <a:ext cx="38849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Supervisor:​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Dr.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K. Srujan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Raju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A6F0DD46-A7E2-E38F-A483-FA22A07FA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171" y="1520871"/>
            <a:ext cx="2883658" cy="7498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654171" y="3596435"/>
            <a:ext cx="660523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 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H. No: 227R1A05E4                        Name: G.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Bhavya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Bhargavi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H. No: 227R1A05D4                      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Deepthi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. H. No: 227R1A05D2                        Name: B.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Balaji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Nayak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848577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DAC297-14AB-2743-DB5F-249C7D4A5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FFCC65-2FE3-AB6B-9B6C-70710CFE9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9F4E988-420E-0C11-0B5E-D1E9A78BD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613" y="53094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030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3CE266-F896-806F-727C-383EDE781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r>
              <a:rPr lang="en-I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(Overview)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8A7B778-4824-65E4-2571-4986839A3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automate loan approval decisions using AI and Machine Learning for faster, more consistent, and data-driven outcomes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addresses two major issues: bias in data leading to unfair results, and lack of transparency in AI decisions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like Logistic Regression, Decision Tree, and Random Forest are trained on past loan data, with Explainable AI tools like LIME providing clear reasons for acceptance or rejection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enhances fairness, transparency, and efficiency, helping both banks and applicants understand and trust the decision-making process.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C1BD485-B4DE-CD28-F056-C8E1B26F0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-10391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100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925735-6A76-1563-9329-B807896E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r>
              <a:rPr lang="en-I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(Contribution)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309CC18-D8F7-95C8-81B0-BE6D1E17E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AI-based loan approval system that ensures fair and unbiased decisions by using high-quality, representative datasets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Explainable AI (LIME) to clearly present reasons for loan approval or rejection, improving transparency and trust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applicants with actionable feedback on rejection reasons to help them improve future eligibility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decision-making speed and consistency compared to traditional manual loan assessment methods.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E7F6E4B-7AD7-F5FF-112E-67406545F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567" y="0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33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F52362-23D6-25FF-1D16-23C6B934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(Background)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AA4FAB-9D9A-2A9A-9E78-AA624D476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approval is a key process in banks, traditionally handled by officers who evaluate factors like income, job details, and credit score, but manual review can be slow and prone to bias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and Machine Learning (ML) can speed up decisions, improve accuracy, and reduce human errors by analyzing past loan data to identify approval patterns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two challenges — eliminating bias in decision-making and providing clear explanations for approvals or rejections to improve fairness and transparency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tools like LIME, the system will offer applicants quick, understandable reasons for loan outcomes, helping them improve eligibility for future applications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4956730-50C2-F1BE-3EC9-028BD054E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0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10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81FD45-E755-7876-B5F2-F355C2462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(Project Direction)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CE38FB-E8CA-C945-630C-C826A9ADE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build an AI-powered loan approval system that predicts acceptance or rejection based on applicant data such as income, job, and credit score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addresses two major issues: removing bias in decision-making to ensure fairness, and providing clear, understandable reasons for approvals or rejections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tools like LIME are used to show applicants why a decision was made, increasing transparency and trust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make the loan approval process faster, fairer, and more reliable for both banks and customers.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7D946E2-7E0B-BC99-F097-2C795742A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0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698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6A6D2E-2541-21E0-D7AD-AE30F237A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8A8812-1673-6AD8-28DF-C2B1AF6FA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Khandani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Kim &amp; Lo — Consumer Credit-Risk Models via Machine-Learning Algorithms —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2010.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nonparametric ML methods (trees, SVMs, ensembles) trained on large transaction + bureau datasets outperform classical linear models for predicting delinquencies and defaults; a key early demonstration that ML materially improves loan/credit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Bellotti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Crook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 Support Vector Machines for Credit Scoring and Discovery of Significant Features — 2009.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 SVMs to credit/credit-card default classification and compared them with logistic regression / LDA / k-NN, highlighting SVM strengths on real credit datasets and methods to find important features for interpretability. </a:t>
            </a:r>
          </a:p>
          <a:p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Trustorff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Konrad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Leker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Credit Risk Prediction Using Support Vector Machines — 2011.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comparing LS-SVM and logistic regression on accounting/financial data for default prediction; discusses effects of training-sample size and probability estimation for credit scoring.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1B5D1A2-B249-9A08-9770-5EE68881E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0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03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8DACC0-0085-2FA8-1938-2DB6ED897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74EE724-2CD7-CB2B-7B90-E60AE5AE9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0"/>
            <a:ext cx="1475360" cy="1255885"/>
          </a:xfrm>
          <a:prstGeom prst="rect">
            <a:avLst/>
          </a:prstGeom>
        </p:spPr>
      </p:pic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800692"/>
            <a:ext cx="1078171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Brown &amp; </a:t>
            </a:r>
            <a:r>
              <a:rPr kumimoji="0" lang="en-US" sz="2000" b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Mues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An experimental comparison of classification algorithms for imbalanced credit scoring data sets — 2012.</a:t>
            </a:r>
            <a:r>
              <a:rPr kumimoji="0" lang="en-US" sz="20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sz="20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20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Systematic comparison of many classifiers (incl. tree ensembles and sampling/imbalance remedies) on multiple credit datasets; important for handling class imbalance which is central to loan-default prediction.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Lessmann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2000" b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Baesens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2000" b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Seow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Thomas — Benchmarking state-of-the-art classification algorithms for credit scoring: an update of research — 2015.</a:t>
            </a:r>
            <a:r>
              <a:rPr kumimoji="0" lang="en-US" sz="20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sz="20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20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benchmarking update (follow-up to </a:t>
            </a:r>
            <a:r>
              <a:rPr kumimoji="0" lang="en-US" sz="2000" b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Baesens</a:t>
            </a:r>
            <a:r>
              <a:rPr kumimoji="0" lang="en-US" sz="20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al.) ranking modern algorithms for credit scoring, providing principled evaluation metrics and showing ensemble methods (boosting / RF) usually lead.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Zięba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2000" b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Tomczak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kumimoji="0" lang="en-US" sz="2000" b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Tomczak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Ensemble boosted trees with synthetic features generation in application to bankruptcy prediction — 2016.</a:t>
            </a:r>
            <a:r>
              <a:rPr kumimoji="0" lang="en-US" sz="20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sz="20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20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an </a:t>
            </a:r>
            <a:r>
              <a:rPr kumimoji="0" lang="en-US" sz="2000" b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sz="20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-style ensemble with synthetic feature generation for bankruptcy (closely related to credit default) and demonstrated notable gains versus baseline models on real datasets.</a:t>
            </a:r>
          </a:p>
        </p:txBody>
      </p:sp>
    </p:spTree>
    <p:extLst>
      <p:ext uri="{BB962C8B-B14F-4D97-AF65-F5344CB8AC3E}">
        <p14:creationId xmlns:p14="http://schemas.microsoft.com/office/powerpoint/2010/main" val="2208223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FB05B1B-9A5D-6DED-468B-44A5536A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408F7F-89EC-E92B-96A2-321A8E33D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A33148E-739E-7641-CCE0-8E30737C6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an AI-powered loan approval framework enhanced with fairness-aware preprocessing and explainable decision-making techniques.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Bias-Resistant Data Processing: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preprocessing methods to detect and reduce bias in applicant data, ensuring fair treatment across all demographic groups.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Multi-Model Prediction Pipeline: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Logistic Regression, Decision Tree, and Random Forest models to collaboratively predict loan approvals with higher accuracy.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Integration: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Employs LIME to clearly present the factors influencing each approval or rejection decision.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Applicant Feedback System: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applicants with transparent and actionable reasons for rejection, enabling them to improve future applications.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Learning: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Periodically retrains models with updated, unbiased data to maintain accuracy and fairness over 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D62AA91-34B6-6F28-2E8E-F4C9FA35B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0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69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D7008B-426A-04FA-0905-7B140B2A9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29159D9-5FA9-E287-9CC7-5E1593B49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loan approval processes in banks are time-consuming, involve manual evaluation, and can lead to inconsistencies or unfair decisions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systems can speed up the process, but if trained on biased historical data, they may reproduce or amplify discrimination (e.g., against specific income groups or genders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AI models lack transparency, making it unclear to applicants and banks why a loan was approved or rejected, which reduces trust in the system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solution that ensures fairness, accuracy,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providing applicants with clear reasons for rejection or acceptance to help them improve future applications.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EC88D061-F28A-58DD-130C-41B6464F5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0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168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0D7739-6362-5704-EEE4-871B4F84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2487CFA-8219-867E-4FAF-9108D3628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AI-driven loan approval system capable of making faster, more consistent, and unbiased decisions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decision-making bias by using fair and representative data during model training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Explainable AI tools (e.g., LIME) to provide clear and understandable reasons for loan acceptance or rejection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transparency and trust in the loan approval process for both customers and banks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applicants understand the cause of rejection and guide them on improving future applications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the system’s predictions are accurate, fair, and compliant with ethical AI practices.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8A9CD61-1592-796C-97E6-3A2971E34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0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826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907C45-6761-54DD-F4A7-FABE06265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55CC58-F3B2-E873-EC1C-23B6CC6C5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91"/>
            <a:ext cx="10515600" cy="4680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800" dirty="0">
                <a:solidFill>
                  <a:schemeClr val="bg2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736B3FF-0F6D-C1F1-2276-7BBE42EFF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0"/>
            <a:ext cx="1475360" cy="12558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06"/>
          <a:stretch/>
        </p:blipFill>
        <p:spPr>
          <a:xfrm>
            <a:off x="2819400" y="1868460"/>
            <a:ext cx="6858000" cy="4548909"/>
          </a:xfrm>
          <a:prstGeom prst="rect">
            <a:avLst/>
          </a:prstGeom>
        </p:spPr>
      </p:pic>
      <p:sp>
        <p:nvSpPr>
          <p:cNvPr id="11" name="TextBox 5">
            <a:extLst>
              <a:ext uri="{FF2B5EF4-FFF2-40B4-BE49-F238E27FC236}">
                <a16:creationId xmlns="" xmlns:a16="http://schemas.microsoft.com/office/drawing/2014/main" xmlns:lc="http://schemas.openxmlformats.org/drawingml/2006/lockedCanvas" id="{029C8FFB-202A-1433-ECDE-284AA4ADC461}"/>
              </a:ext>
            </a:extLst>
          </p:cNvPr>
          <p:cNvSpPr txBox="1"/>
          <p:nvPr/>
        </p:nvSpPr>
        <p:spPr>
          <a:xfrm>
            <a:off x="4337986" y="1496291"/>
            <a:ext cx="35160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Flow of Loan Prediction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224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CA4315E-87F3-092D-9819-348220D58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7C6A4B-BABC-D0F3-C0FB-28104963E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FF8E129-1358-BCB5-AF9E-A1FB6FB12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0"/>
            <a:ext cx="1475360" cy="1255885"/>
          </a:xfrm>
          <a:prstGeom prst="rect">
            <a:avLst/>
          </a:prstGeom>
        </p:spPr>
      </p:pic>
      <p:pic>
        <p:nvPicPr>
          <p:cNvPr id="5122" name="Picture 2" descr="https://sdmntprnortheu.oaiusercontent.com/files/00000000-6934-61f4-8b87-3463666449e5/raw?se=2025-08-10T08%3A34%3A27Z&amp;sp=r&amp;sv=2024-08-04&amp;sr=b&amp;scid=2d3e151b-be03-527e-b870-901463f5fbb2&amp;skoid=0da8417a-a4c3-4a19-9b05-b82cee9d8868&amp;sktid=a48cca56-e6da-484e-a814-9c849652bcb3&amp;skt=2025-08-09T09%3A24%3A10Z&amp;ske=2025-08-10T09%3A24%3A10Z&amp;sks=b&amp;skv=2024-08-04&amp;sig=UfbPLrFQRE%2BG4ninatpdj3C4d9THOMr8ZvOm6GmZgz8%3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496" y="2055813"/>
            <a:ext cx="652700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902694" y="1490633"/>
            <a:ext cx="5813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algorithms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478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CB90FC-C7AF-7F3A-1754-68A63ABDB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ABD3E05-BB41-8516-2622-82FD405DF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Impact: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Biased training data (e.g., against certain income groups or genders) can lead the AI model to replicate existing discrimination, reducing fairness and trust in the system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Gap: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AI models act as “black boxes,” failing to clearly explain why a loan was approved or rejected, which limits user understanding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transparency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Explainable AI: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tools like LIME allows the system to identify and present key factors influencing the decision, making the outcome easier to justify to applicants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Decision-Making: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clean, unbiased datasets with explainable outputs helps maintain both accuracy and equity in loan approvals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Transparency: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 rejection reasons empowers applicants to address shortcomings and reapply, improving customer experience and trust.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4E190EE-5471-7C61-2C3C-E7D1FC707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0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15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28CDA4-6F53-AF03-6C58-05C4BABCF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06FB28-763D-7699-C159-0602595A7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Loan Approval Accuracy: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higher prediction accuracy in determining loan eligibility using AI models (Logistic Regression, Decision Tree, Random Forest).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Decision-Making: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loan processing time by automating approval predictions through machine learning algorithms.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and Transparent Evaluation: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explainable results using LIME, ensuring applicants understand reasons for approval or rejection.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Reduction in Decisions: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unfair treatment by training models on balanced and representative datasets.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Customer Experience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Deliver instant feedback on loan applications, improving satisfaction and trust.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9004719-D879-722C-9BCB-80DDF56E3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640" y="0"/>
            <a:ext cx="1475360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327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</TotalTime>
  <Words>1090</Words>
  <Application>Microsoft Office PowerPoint</Application>
  <PresentationFormat>Widescreen</PresentationFormat>
  <Paragraphs>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Project Title: AI- Lend Sense: Predictive and Explainable loan Decision System.  </vt:lpstr>
      <vt:lpstr>Index</vt:lpstr>
      <vt:lpstr>Abstract (Overview)</vt:lpstr>
      <vt:lpstr>Abstract (Contribution)</vt:lpstr>
      <vt:lpstr>Introduction (Background)</vt:lpstr>
      <vt:lpstr>Introduction (Project Direction)</vt:lpstr>
      <vt:lpstr>Literature Review</vt:lpstr>
      <vt:lpstr>Literature Review</vt:lpstr>
      <vt:lpstr>Proposed System</vt:lpstr>
      <vt:lpstr>Problem Definition</vt:lpstr>
      <vt:lpstr>Objectives</vt:lpstr>
      <vt:lpstr>Methodology</vt:lpstr>
      <vt:lpstr>Methodology</vt:lpstr>
      <vt:lpstr>Analysis</vt:lpstr>
      <vt:lpstr>Expected Outcomes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Federated Multi-Agent Deep Reinforcement Learning for Heterogeneous Medical Imaging Tasks</dc:title>
  <dc:creator>Ashish katta</dc:creator>
  <cp:lastModifiedBy>User</cp:lastModifiedBy>
  <cp:revision>21</cp:revision>
  <dcterms:created xsi:type="dcterms:W3CDTF">2025-08-06T15:50:46Z</dcterms:created>
  <dcterms:modified xsi:type="dcterms:W3CDTF">2025-08-10T12:19:15Z</dcterms:modified>
</cp:coreProperties>
</file>