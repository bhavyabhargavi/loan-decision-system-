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74" r:id="rId4"/>
    <p:sldId id="258" r:id="rId5"/>
    <p:sldId id="259" r:id="rId6"/>
    <p:sldId id="262" r:id="rId7"/>
    <p:sldId id="270" r:id="rId8"/>
    <p:sldId id="264" r:id="rId9"/>
    <p:sldId id="265" r:id="rId10"/>
    <p:sldId id="276" r:id="rId11"/>
    <p:sldId id="277" r:id="rId12"/>
    <p:sldId id="278" r:id="rId13"/>
    <p:sldId id="266" r:id="rId14"/>
    <p:sldId id="271" r:id="rId15"/>
    <p:sldId id="272" r:id="rId16"/>
    <p:sldId id="279" r:id="rId17"/>
    <p:sldId id="273" r:id="rId18"/>
    <p:sldId id="275" r:id="rId19"/>
    <p:sldId id="267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THI BARMA" userId="80413e7e679fea7e" providerId="LiveId" clId="{C3999DA9-87DA-400E-A6ED-93BE7517204C}"/>
    <pc:docChg chg="addSld delSld modSld sldOrd">
      <pc:chgData name="DEEPTHI BARMA" userId="80413e7e679fea7e" providerId="LiveId" clId="{C3999DA9-87DA-400E-A6ED-93BE7517204C}" dt="2025-10-24T05:14:27.633" v="34" actId="2696"/>
      <pc:docMkLst>
        <pc:docMk/>
      </pc:docMkLst>
      <pc:sldChg chg="modSp mod ord">
        <pc:chgData name="DEEPTHI BARMA" userId="80413e7e679fea7e" providerId="LiveId" clId="{C3999DA9-87DA-400E-A6ED-93BE7517204C}" dt="2025-10-24T04:53:33.158" v="32" actId="1036"/>
        <pc:sldMkLst>
          <pc:docMk/>
          <pc:sldMk cId="534224415" sldId="266"/>
        </pc:sldMkLst>
        <pc:spChg chg="mod">
          <ac:chgData name="DEEPTHI BARMA" userId="80413e7e679fea7e" providerId="LiveId" clId="{C3999DA9-87DA-400E-A6ED-93BE7517204C}" dt="2025-10-24T04:18:33.361" v="31" actId="20577"/>
          <ac:spMkLst>
            <pc:docMk/>
            <pc:sldMk cId="534224415" sldId="266"/>
            <ac:spMk id="2" creationId="{0F907C45-6761-54DD-F4A7-FABE06265E1E}"/>
          </ac:spMkLst>
        </pc:spChg>
        <pc:picChg chg="mod">
          <ac:chgData name="DEEPTHI BARMA" userId="80413e7e679fea7e" providerId="LiveId" clId="{C3999DA9-87DA-400E-A6ED-93BE7517204C}" dt="2025-10-24T04:53:33.158" v="32" actId="1036"/>
          <ac:picMkLst>
            <pc:docMk/>
            <pc:sldMk cId="534224415" sldId="266"/>
            <ac:picMk id="9" creationId="{00000000-0000-0000-0000-000000000000}"/>
          </ac:picMkLst>
        </pc:picChg>
      </pc:sldChg>
      <pc:sldChg chg="new del">
        <pc:chgData name="DEEPTHI BARMA" userId="80413e7e679fea7e" providerId="LiveId" clId="{C3999DA9-87DA-400E-A6ED-93BE7517204C}" dt="2025-10-24T05:14:27.633" v="34" actId="2696"/>
        <pc:sldMkLst>
          <pc:docMk/>
          <pc:sldMk cId="3530625350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239E9-BA53-EBF8-E04B-FE3039130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6DF680-0E10-1967-73B3-979D0E9B5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DDFA6-E9C0-01B8-628B-D7ACAB581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6EBA3-BAED-DA7C-FD37-1AE9C2163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21FC1-6271-76DC-7C29-FF836A156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54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32154-B258-235E-BC58-D2B0EDF6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D3A38-C4C3-601D-0B86-7ED8EA9D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8F22F-F6B4-5DFE-5C05-509585B2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5EC34-F903-BBF5-6D2B-BE8B9C0AC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D6ED7-A0E2-2908-4B23-8A4DD2E6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8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24D8C-358D-E754-AC83-786240EE8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D92C3-426A-BEB0-0674-E2EDF8F7E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A5C98-455D-6B5E-63E0-1C5B8F624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B23C8-D1CE-EB85-4C5F-A2F0DBFB1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7FAE9-D11B-609B-450F-CDB2A4E06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803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582E4-DC4A-2112-4BC6-2D3663207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A36B7-CB2A-067E-EDA0-A5EF0B5C73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B604E-939A-EB93-EE88-7B1BB9DDA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AC205-2906-9378-502F-4788C9537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35382-4CE0-FB43-91ED-4104B84C4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B4C80-3310-91B8-E061-E099EC98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327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75DEC-D5B9-2294-1ABE-524E4CEE4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ABB8F-8871-0760-4BF1-489355E3C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4EEDC-B06D-B1BD-EFF5-AAA7B9FC4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A2AF96-C002-4352-C53B-9B6FE311FF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8E54A-D86E-8C32-887A-29F30ED956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3D6036-87AC-D08D-5124-881A47E4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1A2B3-CBBB-E260-332B-AF86269B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395B74-0ADC-D83D-3422-7241B9216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070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50B9-55A7-A7B3-2FF2-4AEA32609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CFEB30-961F-6C4E-3E8B-2C825788E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3D1C8-E88B-213E-B5EA-2D0A618E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98909-3C79-D034-2FD1-8F750FE5C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803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357069-DE8F-3682-74AC-D9FE3586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98F508-D47C-D827-78F3-D9F34B8BA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4CE36-E262-B20E-0EEF-57489BAFF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504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F8767-857E-F457-687F-0FB99613E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D5E73-35C8-17BE-1CA9-60E0DE9F9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CB842-A6EB-4352-3D8C-82B25DDAE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C5EFC-5BC2-842A-1004-1B8CAE8DF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E1C7C-6DC3-484F-6882-3C6519DCF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A2608-8062-C7B3-5E9E-39D31954B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146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3EAF3-2710-F781-2AC8-2D56E9CEA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5979E9-8758-748B-859E-1BFF7EAF23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01027-B90F-08C1-371C-F192DFAEF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9F0E0-8AB2-FF19-086E-CA95DB671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3613B-420F-63DD-2236-E3AB484A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82530-B1C3-7AD2-B749-B005BA097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79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A9BDF-097B-FE82-E5C3-0533E01D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1E2029-DFA9-D325-40F6-AE45AEB1A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5185E-4F7F-A9D9-77AD-E5CC819F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5FF5E-1990-F02D-79F5-888B266C6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192E0-D41A-BC21-29C6-82FC753C1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34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C9ED10-27DF-EEDA-13CA-07F808DE2A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2D2A17-43BC-6998-E1ED-1C96C219F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EC0BE-ED7E-34D0-A7DF-035D2E3B1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DC63C-9413-7335-E3C4-769F80444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01808-599B-8782-ED94-A8EE1516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288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ED8B06-7338-8E46-D089-41D0681DE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040F7-F30F-2014-0040-FBD8EC8B1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5AD0A-F186-16AB-55B1-B9B2721C3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7415C-EF0B-4E4F-A4D6-80D2E017E36A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A2BD7-AFCC-753B-7219-FD0854D95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5771F-BBE3-3068-5DDD-B61E0CB1A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96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B8D9-FCAC-0035-B158-A90A0FDFC2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/>
              </a:rPr>
              <a:t>Project Title: </a:t>
            </a:r>
            <a:r>
              <a:rPr lang="en-US" sz="2400" b="1" dirty="0">
                <a:latin typeface="Times New Roman"/>
              </a:rPr>
              <a:t>AI- Lend Sense: Predictive and Explainable loan Decision System. </a:t>
            </a:r>
            <a:br>
              <a:rPr lang="en-US" sz="2400" b="1" dirty="0">
                <a:latin typeface="Times New Roman"/>
                <a:cs typeface="Times New Roman"/>
              </a:rPr>
            </a:b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DD432E-A96E-DDBD-D0AA-D0A1A9664B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8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FF5BA7-8123-5BCC-F3EF-2EB12F50A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652" y="201401"/>
            <a:ext cx="1797627" cy="1530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F351A6-06E2-8E4E-02C5-1F9B81FD0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039" y="134470"/>
            <a:ext cx="5931922" cy="16094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A89CA3-CBC1-6EDF-3882-EB0DA444A4B3}"/>
              </a:ext>
            </a:extLst>
          </p:cNvPr>
          <p:cNvSpPr txBox="1"/>
          <p:nvPr/>
        </p:nvSpPr>
        <p:spPr>
          <a:xfrm>
            <a:off x="738978" y="3726597"/>
            <a:ext cx="38849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Supervisor:​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K. Srujan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Raju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6F0DD46-A7E2-E38F-A483-FA22A07FA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171" y="1520871"/>
            <a:ext cx="2883658" cy="7498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654171" y="3596435"/>
            <a:ext cx="660523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 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. H. No: 227R1A05E4                        Name: G.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Bhavya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Bhargavi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. H. No: 227R1A05D4                        Name: B.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Deepthi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. H. No: 227R1A05D2                        Name: B.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Balaji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Nayak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848577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AC297-14AB-2743-DB5F-249C7D4A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FCC65-2FE3-AB6B-9B6C-70710CFE9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F4E988-420E-0C11-0B5E-D1E9A78BD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613" y="53094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030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CE266-F896-806F-727C-383EDE781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r>
              <a:rPr lang="en-IN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(Overview)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7B778-4824-65E4-2571-4986839A3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automate loan approval decisions using AI and Machine Learning for faster, more consistent, and data-driven outcomes.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addresses two major issues: bias in data leading to unfair results, and lack of transparency in AI decisions.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like Logistic Regression, Decision Tree, and Random Forest are trained on past loan data, with Explainable AI tools like LIME providing clear reasons for acceptance or rejection.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enhances fairness, transparency, and efficiency, helping both banks and applicants understand and trust the decision-making process.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1BD485-B4DE-CD28-F056-C8E1B26F0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-10391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54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25735-6A76-1563-9329-B807896E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r>
              <a:rPr lang="en-IN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(Contribution)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9CC18-D8F7-95C8-81B0-BE6D1E17E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AI-based loan approval system that ensures fair and unbiased decisions by using high-quality, representative datasets.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Explainable AI (LIME) to clearly present reasons for loan approval or rejection, improving transparency and trust.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applicants with actionable feedback on rejection reasons to help them improve future eligibility.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decision-making speed and consistency compared to traditional manual loan assessment methods.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7F6E4B-7AD7-F5FF-112E-67406545F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567" y="0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3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52362-23D6-25FF-1D16-23C6B934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sz="36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A4FAB-9D9A-2A9A-9E78-AA624D476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 is a key process in banks, traditionally handled by officers who evaluate factors like income, job details, and credit score, but manual review can be slow and prone to bias.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and Machine Learning (ML) can speed up decisions, improve accuracy, and reduce human errors by analyzing past loan data to identify approval patterns.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two challenges — eliminating bias in decision-making and providing clear explanations for approvals or rejections to improve fairness and transparency.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tools like LIME, the system will offer applicants quick, understandable reasons for loan outcomes, helping them improve eligibility for future applications.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956730-50C2-F1BE-3EC9-028BD054E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10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DACC0-0085-2FA8-1938-2DB6ED897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4EE724-2CD7-CB2B-7B90-E60AE5AE9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700665"/>
            <a:ext cx="10781714" cy="460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Kumar, A. &amp; Sharma, S. (2022)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Compared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predicting loan approvals.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Das, P. &amp; Ghosh, S. (2023)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Springer, Financial Analytics Journal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Introduced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(ANN + Decision Tree)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bank loan approvals.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Improved prediction precision by combining deep learning with rule-based logic.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Chaudhary, M. &amp; Verma, R. (2023)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Elsevier Expert Systems with Applications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Used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credit scoring datasets.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Reported 92% accuracy and faster training compared to traditional ML models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Bhat, K. &amp; Reddy, A. (2024)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Computational Intelligence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 (DNN)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with autoencoder preprocessing.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94% accuracy and reduced overfitting via dropout layers.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223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05B1B-9A5D-6DED-468B-44A5536A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8F7F-89EC-E92B-96A2-321A8E33D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3148E-739E-7641-CCE0-8E30737C6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an AI-powered loan approval framework enhanced with fairness-aware preprocessing and explainable decision-making techniques.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Bias-Resistant Data Processing: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preprocessing methods to detect and reduce bias in applicant data, ensuring fair treatment across all demographic groups.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Multi-Model Prediction Pipeline: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Logistic Regression, Decision Tree, and Random Forest models to collaboratively predict loan approvals with higher accuracy.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Integration: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Employs LIME to clearly present the factors influencing each approval or rejection decision.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 Feedback System: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applicants with transparent and actionable reasons for rejection, enabling them to improve future applications.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Learning: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Periodically retrains models with updated, unbiased data to maintain accuracy and fairness over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62AA91-34B6-6F28-2E8E-F4C9FA35B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69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7008B-426A-04FA-0905-7B140B2A9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159D9-5FA9-E287-9CC7-5E1593B49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loan approval processes in banks are time-consuming, involve manual evaluation, and can lead to inconsistencies or unfair decisions.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systems can speed up the process, but if trained on biased historical data, they may reproduce or amplify discrimination (e.g., against specific income groups or genders).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AI models lack transparency, making it unclear to applicants and banks why a loan was approved or rejected, which reduces trust in the system.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solution that ensures fairness, accuracy,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providing applicants with clear reasons for rejection or acceptance to help them improve future applications.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88D061-F28A-58DD-130C-41B6464F5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168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D7739-6362-5704-EEE4-871B4F84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87CFA-8219-867E-4FAF-9108D3628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AI-driven loan approval system capable of making faster, more consistent, and unbiased decisions.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decision-making bias by using fair and representative data during model training.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Explainable AI tools (e.g., LIME) to provide clear and understandable reasons for loan acceptance or rejection.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transparency and trust in the loan approval process for both customers and banks.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applicants understand the cause of rejection and guide them on improving future applications.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the system’s predictions are accurate, fair, and compliant with ethical AI practices.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9CD61-1592-796C-97E6-3A2971E34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826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D2C2E-F50C-003B-64B4-16ACAAFE6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72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968AD6-9668-48BA-F59D-2F122445D6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0099" y="1111942"/>
            <a:ext cx="10591801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1.Data Collection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 loan-related data such as applicant income, credit score, employment type, loan amount, and repayment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this data to build and train the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2.Data Preprocessing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the data (remove missing or incorrect values).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text data (like employment type) into numerical 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 into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3.Model Building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algorithms such as: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learns decision rules.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learns a simple linear boundary.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combines multiple trees for better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these models using training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F7982A-C8B4-FBA4-38E5-1D1CD1C4C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3092" y="69678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56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72D22-7159-E0F8-899E-56444E79D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Implementation(cont..)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B085B8-6B30-CCEB-47AA-E43029398F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3257" y="1690688"/>
            <a:ext cx="9159212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4.Model Evaluation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each model with test data to measure performance (accuracy, precision, recall).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Choose the best-performing model for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5.Prediction Phase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a new applicant applies for a loan, their data is entered into the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model predicts whether the loan should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Approved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Rejected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6.Explainability (Using LIME/SHAP)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clear explanations for model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“Loan approved due to high income and good credit score.”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builds trust and transparency in the AI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A983D2-6951-DD57-6241-7C98C6261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040" y="239486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87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D3E63-BC35-3B57-24DE-8C5CC0307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Implementation(cont..)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893FA-56F6-882F-803F-00EFDF969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915" y="1690688"/>
            <a:ext cx="10765972" cy="4638675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7.Drift Detection and Monitoring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 data and model performance.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prediction accuracy drops or new patterns appear, the model is retrained.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8.Admin Review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 reviews loan decisions, model performance, and system logs.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trigger model retraining when needed.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9.Final Decision Output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outputs the decision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along with an explanation.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results are stored in the database for future reference and reporting.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8F8500-09ED-EBED-5D4E-A28F29387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812" y="163286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047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7C45-6761-54DD-F4A7-FABE06265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5CC58-F3B2-E873-EC1C-23B6CC6C5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91"/>
            <a:ext cx="10515600" cy="4680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800" dirty="0">
                <a:solidFill>
                  <a:schemeClr val="bg2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36B3FF-0F6D-C1F1-2276-7BBE42EFF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06"/>
          <a:stretch/>
        </p:blipFill>
        <p:spPr>
          <a:xfrm>
            <a:off x="2819400" y="1884502"/>
            <a:ext cx="6858000" cy="4548909"/>
          </a:xfrm>
          <a:prstGeom prst="rect">
            <a:avLst/>
          </a:prstGeom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029C8FFB-202A-1433-ECDE-284AA4ADC461}"/>
              </a:ext>
            </a:extLst>
          </p:cNvPr>
          <p:cNvSpPr txBox="1"/>
          <p:nvPr/>
        </p:nvSpPr>
        <p:spPr>
          <a:xfrm>
            <a:off x="4337986" y="1496291"/>
            <a:ext cx="3516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 of Loan Prediction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224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58B1-4C46-41DA-0778-EB7B3F0B7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4285" y="-207219"/>
            <a:ext cx="10515600" cy="1325563"/>
          </a:xfrm>
        </p:spPr>
        <p:txBody>
          <a:bodyPr/>
          <a:lstStyle/>
          <a:p>
            <a:r>
              <a:rPr lang="en-US" dirty="0"/>
              <a:t>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52EA32-FCF6-C1AF-63C9-E8EFEF533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87" y="982477"/>
            <a:ext cx="11745686" cy="56578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F50764-1C4B-4853-76BE-A0003B852FE2}"/>
              </a:ext>
            </a:extLst>
          </p:cNvPr>
          <p:cNvSpPr txBox="1"/>
          <p:nvPr/>
        </p:nvSpPr>
        <p:spPr>
          <a:xfrm>
            <a:off x="4946086" y="664029"/>
            <a:ext cx="3744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USECASE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CA58F7-E3F6-8C3D-6666-12AF6E1FE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6013" y="36086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2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1BAB9E-0398-AABF-4488-817B8343C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371" y="955248"/>
            <a:ext cx="9873344" cy="56741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96FD39-A305-C0FC-CCB1-662DB997B840}"/>
              </a:ext>
            </a:extLst>
          </p:cNvPr>
          <p:cNvSpPr txBox="1"/>
          <p:nvPr/>
        </p:nvSpPr>
        <p:spPr>
          <a:xfrm>
            <a:off x="4637313" y="136588"/>
            <a:ext cx="5018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B4FA5E-E08F-04C9-566C-E03957B86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9035" y="102570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797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A093D5-039C-C1DD-3FEA-71A10B25F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120" y="250371"/>
            <a:ext cx="1475360" cy="12558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9E4F41-E2E4-459C-4615-FE8F2EF8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6" y="941459"/>
            <a:ext cx="8936491" cy="55784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E888C8-BA00-4209-6A98-3836185AF13E}"/>
              </a:ext>
            </a:extLst>
          </p:cNvPr>
          <p:cNvSpPr txBox="1"/>
          <p:nvPr/>
        </p:nvSpPr>
        <p:spPr>
          <a:xfrm>
            <a:off x="3679372" y="308394"/>
            <a:ext cx="7075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 Diagram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208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6D8D1A-A1CA-C3E4-7028-547AB19A1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86" y="667922"/>
            <a:ext cx="11789228" cy="60575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354DD8-6A30-823C-2CB9-E78471E495CD}"/>
              </a:ext>
            </a:extLst>
          </p:cNvPr>
          <p:cNvSpPr txBox="1"/>
          <p:nvPr/>
        </p:nvSpPr>
        <p:spPr>
          <a:xfrm>
            <a:off x="4702629" y="267812"/>
            <a:ext cx="3494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5B9EF4-1B52-A70E-FD89-64121BC22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6228" y="111941"/>
            <a:ext cx="1306286" cy="111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69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4DA1FF-B29D-800B-ADD9-C4C285B3C1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171" y="-66118"/>
            <a:ext cx="8795659" cy="682614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94CFCF-A4A3-ADC5-F8DC-8001759691D8}"/>
              </a:ext>
            </a:extLst>
          </p:cNvPr>
          <p:cNvSpPr txBox="1"/>
          <p:nvPr/>
        </p:nvSpPr>
        <p:spPr>
          <a:xfrm>
            <a:off x="359228" y="283028"/>
            <a:ext cx="2481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A2731F-993C-D8CA-BFE7-DE5923C4E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2470" y="97971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903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B90FC-C7AF-7F3A-1754-68A63ABDB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D3E05-BB41-8516-2622-82FD405DF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Impact: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Biased training data (e.g., against certain income groups or genders) can lead the AI model to replicate existing discrimination, reducing fairness and trust in the system.</a:t>
            </a:r>
          </a:p>
          <a:p>
            <a:pPr algn="just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Gap: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AI models act as “black boxes,” failing to clearly explain why a loan was approved or rejected, which limits user understanding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transparency.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Explainable AI: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tools like LIME allows the system to identify and present key factors influencing the decision, making the outcome easier to justify to applicants.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Decision-Making: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clean, unbiased datasets with explainable outputs helps maintain both accuracy and equity in loan approvals.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Transparency: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rejection reasons empowers applicants to address shortcomings and reapply, improving customer experience and trust.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190EE-5471-7C61-2C3C-E7D1FC707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15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8CDA4-6F53-AF03-6C58-05C4BABC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6FB28-763D-7699-C159-0602595A7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Loan Approval Accuracy: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higher prediction accuracy in determining loan eligibility using AI models (Logistic Regression, Decision Tree, Random Forest).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Decision-Making: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loan processing time by automating approval predictions through machine learning algorithms.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and Transparent Evaluation: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explainable results using LIME, ensuring applicants understand reasons for approval or rejection.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Reduction in Decisions: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unfair treatment by training models on balanced and representative datasets.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Customer Experience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Deliver instant feedback on loan applications, improving satisfaction and trust.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004719-D879-722C-9BCB-80DDF56E3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327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1358</TotalTime>
  <Words>1469</Words>
  <Application>Microsoft Office PowerPoint</Application>
  <PresentationFormat>Widescreen</PresentationFormat>
  <Paragraphs>135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Project Title: AI- Lend Sense: Predictive and Explainable loan Decision System.  </vt:lpstr>
      <vt:lpstr>Index</vt:lpstr>
      <vt:lpstr>Abstract (Overview)</vt:lpstr>
      <vt:lpstr>Abstract (Contribution)</vt:lpstr>
      <vt:lpstr>Introduction </vt:lpstr>
      <vt:lpstr>Literature Review</vt:lpstr>
      <vt:lpstr>Proposed System</vt:lpstr>
      <vt:lpstr>Problem Definition</vt:lpstr>
      <vt:lpstr>Objectives</vt:lpstr>
      <vt:lpstr>Implementation</vt:lpstr>
      <vt:lpstr>Implementation(cont..)</vt:lpstr>
      <vt:lpstr>Implementation(cont..)</vt:lpstr>
      <vt:lpstr>System Architecture</vt:lpstr>
      <vt:lpstr> UML Diagrams</vt:lpstr>
      <vt:lpstr>PowerPoint Presentation</vt:lpstr>
      <vt:lpstr>PowerPoint Presentation</vt:lpstr>
      <vt:lpstr>PowerPoint Presentation</vt:lpstr>
      <vt:lpstr>PowerPoint Presentation</vt:lpstr>
      <vt:lpstr>Analysis</vt:lpstr>
      <vt:lpstr>Expected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Federated Multi-Agent Deep Reinforcement Learning for Heterogeneous Medical Imaging Tasks</dc:title>
  <dc:creator>Ashish katta</dc:creator>
  <cp:lastModifiedBy>DEEPTHI BARMA</cp:lastModifiedBy>
  <cp:revision>26</cp:revision>
  <dcterms:created xsi:type="dcterms:W3CDTF">2025-08-06T15:50:46Z</dcterms:created>
  <dcterms:modified xsi:type="dcterms:W3CDTF">2025-10-24T07:54:31Z</dcterms:modified>
</cp:coreProperties>
</file>